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9"/>
  </p:notesMasterIdLst>
  <p:sldIdLst>
    <p:sldId id="289" r:id="rId2"/>
    <p:sldId id="268" r:id="rId3"/>
    <p:sldId id="290" r:id="rId4"/>
    <p:sldId id="295" r:id="rId5"/>
    <p:sldId id="291" r:id="rId6"/>
    <p:sldId id="292" r:id="rId7"/>
    <p:sldId id="29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1451" autoAdjust="0"/>
  </p:normalViewPr>
  <p:slideViewPr>
    <p:cSldViewPr snapToGrid="0">
      <p:cViewPr varScale="1">
        <p:scale>
          <a:sx n="70" d="100"/>
          <a:sy n="70" d="100"/>
        </p:scale>
        <p:origin x="69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7D925-660A-44A0-AE5E-288134ECB8F4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DADBC-AEA2-44EF-A848-8804DABF8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87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（丙烯腈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-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丁二烯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-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苯乙烯）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强度和耐冲击性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具有较高的机械强度和耐冲击性，适用于需要高强度和耐用性的产品。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耐热性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的热稳定性较好，能够承受较高的温度，不易变形。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经济性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：与其他工程材料相比，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材料成本较低，适合大规模生产。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加工性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易于加工成各种形状，可通过注塑、挤出等方式加工。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环境影响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ABS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在打印过程中可能会释放一定的气味，需要良好的通风环境。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（聚乳酸）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环保性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是一种生物可降解材料，来源于可再生的植物资源，如玉米淀粉或甘蔗，对环境友好。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低温打印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的打印温度较低，适合初学者使用。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易于后处理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打印后的表面相对光滑，后处理简单。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耐热性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的耐热性较差，长期暴露在高温环境下可能会变形，不适合用于高温或高负荷的应用。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-apple-system"/>
              </a:rPr>
              <a:t>收缩率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PLA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的收缩率极低（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0.3%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），有助于减少打印过程中的变形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DADBC-AEA2-44EF-A848-8804DABF83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05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D05CC-FF0A-5253-345A-DC7BDAA73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39AB80-F0DA-21DB-55EC-5D5A5475E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B89B8-422B-570E-CA86-21C741EC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1A16D6-35BF-61E5-CCF9-061DF38F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5FA15-F401-52FA-E6B0-4CF40E61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33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325FF-E3A7-FC08-7AD5-5A0D28BE5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BECC2-D3E1-6A26-7B05-127A4B20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9CE5A-8B20-0619-0D0C-B720BAB0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D3343-445A-E67B-E076-4C0A6E78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189E7E-30DF-9698-92AA-79B80BAB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4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A1AC0-9A2D-04C2-BDDF-54D5876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C278E7-1630-033E-0E03-800FB86F6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563F1-4026-7720-8E7E-47A25A8B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D40DE-0FE3-F7C3-D773-EFC6F7FF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DD0961-798C-37B7-2DA7-A00377CC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75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DC8D7-CEA0-8949-80C7-4E68527F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109361-7283-BBE4-5BBA-DA6401D64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10D632-217A-326E-FBC0-CB3204AA1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9177CA-4185-C838-A133-64368D69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D93D9F-CC01-6F39-1E61-0BDA506A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C0891B-EDFF-3A68-C560-D377A2D5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20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DBB57-24E1-997A-4D28-AFA77616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C0AFA2-3485-4D52-8FA1-CD82E6629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92141F-CF87-D048-B979-CEF3B46E6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CDE6CB-1DFB-548A-6C87-8E41BC05A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6C7F20-EB93-F380-4936-1D3590C29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447CEC-BF6E-4F01-FBE8-0AF7E833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1E16B9-ECC7-EFD5-C36A-94C05B34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2A21A8-2788-9929-9DD0-0328D6C2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80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0705-2FB3-7BD6-C2D1-0EE50FBC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FBBFCA-F7E3-A601-3AAE-AE0B22D5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946BA2-7B8D-F69A-0541-EAD6D995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813B9A-E5B6-4C1A-8D03-BBAE5C01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3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4B61AB-D6C2-1DD1-8353-03E7BAAD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AE589E-78D7-E346-3247-2CDDB451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4BF78F-E1CA-2C66-A666-929C0C0F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34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DE25B-4942-92F6-DEBC-0985B979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62240-4F4A-2176-8D6B-AFDF8DF01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B1D17E-8AF0-B915-201F-54B0DFB36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F94309-6A12-40DA-C20E-E88E5B71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294E7-1D2B-8E46-F48C-677DAF36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07D175-8B6C-9CD2-E3FE-DC5EFC6A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50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4586B-22E1-027F-65B3-0C38AC27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7197D6-4AAB-FFDC-2352-E50025072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53AF8-8095-48DF-098D-21DD84523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A99FE-B998-8B94-2165-370872CE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0632C5-31DD-9D96-8D03-4E2E02AE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C4AA6A-BBAA-178B-CBBE-B3D6E15F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27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BCB7C-DF61-E7F6-7532-9AB9DCE4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FFF7E-6E96-29E6-D0F2-3CEF521FE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DAF87-8F88-AFA0-3A3A-C9624E7B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34389-B72F-F441-2F5A-6CD163EF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E92CBE-D01D-BAC4-6571-E078C203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08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FEC731-92C0-96C1-A0C7-440C55890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0BAB93-62C5-055B-DB03-4D8811284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4CC8D1-E377-D649-370E-7E16B0F1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6FC4CB-1666-5A8E-D507-A3A56D4B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35C89-F0F6-310E-0878-60DADAD2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2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房间的摆设布局&#10;&#10;中度可信度描述已自动生成">
            <a:extLst>
              <a:ext uri="{FF2B5EF4-FFF2-40B4-BE49-F238E27FC236}">
                <a16:creationId xmlns:a16="http://schemas.microsoft.com/office/drawing/2014/main" id="{7CE97D0E-6843-4EEA-BEAD-8CD9A118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8FA06-D177-4B0C-9126-5CDF7CA3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/>
          <a:p>
            <a:fld id="{A25FAE2F-E712-4C15-9E7E-4D828CB31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48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7F1046-E922-58F9-7D87-08DBC979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1FD2F8-A745-3BAD-A9CD-E63D1212A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B70ED-D459-2A0D-C656-4AC6B1886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A70BC-90F7-4132-AC67-57398EAF138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6277EC-0FE0-00CF-3A80-B1619FCFA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A00F0-D2ED-B16E-8FF8-AF23B04F3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7401D-EB2D-4A2F-9CF2-92E4ED53F4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54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6302F4-F842-40B6-985D-1E1B58A21AB4}"/>
              </a:ext>
            </a:extLst>
          </p:cNvPr>
          <p:cNvSpPr txBox="1"/>
          <p:nvPr/>
        </p:nvSpPr>
        <p:spPr>
          <a:xfrm>
            <a:off x="4329460" y="2194618"/>
            <a:ext cx="36371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n>
                  <a:gradFill>
                    <a:gsLst>
                      <a:gs pos="49000">
                        <a:schemeClr val="accent1"/>
                      </a:gs>
                      <a:gs pos="0">
                        <a:schemeClr val="accent6"/>
                      </a:gs>
                    </a:gsLst>
                    <a:lin ang="5400000" scaled="1"/>
                  </a:gradFill>
                </a:ln>
                <a:solidFill>
                  <a:schemeClr val="accent4"/>
                </a:solidFill>
                <a:effectLst/>
                <a:latin typeface="+mj-ea"/>
                <a:ea typeface="+mj-ea"/>
              </a:rPr>
              <a:t>Unleash Your Creativity</a:t>
            </a:r>
            <a:endParaRPr lang="zh-CN" altLang="en-US" sz="2800" b="1" dirty="0">
              <a:ln>
                <a:gradFill>
                  <a:gsLst>
                    <a:gs pos="49000">
                      <a:schemeClr val="accent1"/>
                    </a:gs>
                    <a:gs pos="0">
                      <a:schemeClr val="accent6"/>
                    </a:gs>
                  </a:gsLst>
                  <a:lin ang="5400000" scaled="1"/>
                </a:gradFill>
              </a:ln>
              <a:solidFill>
                <a:schemeClr val="accent4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E54ED5-A5DB-4FD9-9932-D5A461166EBA}"/>
              </a:ext>
            </a:extLst>
          </p:cNvPr>
          <p:cNvGrpSpPr/>
          <p:nvPr/>
        </p:nvGrpSpPr>
        <p:grpSpPr>
          <a:xfrm>
            <a:off x="3049460" y="2223348"/>
            <a:ext cx="1308333" cy="512723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D1A63750-DFCC-40EA-AF22-2CAD0944F6CC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EAEA148C-905F-41B1-A1B4-C2B8B4AFFB16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3B89725F-B262-43AB-B7BE-2E8DC0D77DAA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FE8132-9C40-498A-BAD9-5F1EB42E5C90}"/>
              </a:ext>
            </a:extLst>
          </p:cNvPr>
          <p:cNvGrpSpPr/>
          <p:nvPr/>
        </p:nvGrpSpPr>
        <p:grpSpPr>
          <a:xfrm flipH="1">
            <a:off x="7905241" y="2223348"/>
            <a:ext cx="1308333" cy="512723"/>
            <a:chOff x="124227" y="446024"/>
            <a:chExt cx="1477187" cy="576829"/>
          </a:xfrm>
        </p:grpSpPr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55D7D3B0-01EB-4E9B-9480-65B03ABB8454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6A16026D-8B17-4CCF-A3C6-F26D4F0CA578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C759BCFD-4BA7-4819-8DCC-188C62066E44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C9F5B43F-DFC2-477D-B670-D507980A5630}"/>
              </a:ext>
            </a:extLst>
          </p:cNvPr>
          <p:cNvSpPr/>
          <p:nvPr/>
        </p:nvSpPr>
        <p:spPr>
          <a:xfrm>
            <a:off x="2153462" y="5554602"/>
            <a:ext cx="7913549" cy="918667"/>
          </a:xfrm>
          <a:prstGeom prst="ellipse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4" name="梯形 23">
            <a:extLst>
              <a:ext uri="{FF2B5EF4-FFF2-40B4-BE49-F238E27FC236}">
                <a16:creationId xmlns:a16="http://schemas.microsoft.com/office/drawing/2014/main" id="{FE5FBAD5-5845-4B0F-9A65-69A041AEB90C}"/>
              </a:ext>
            </a:extLst>
          </p:cNvPr>
          <p:cNvSpPr/>
          <p:nvPr/>
        </p:nvSpPr>
        <p:spPr>
          <a:xfrm flipV="1">
            <a:off x="2947212" y="4284374"/>
            <a:ext cx="6331586" cy="337252"/>
          </a:xfrm>
          <a:prstGeom prst="trapezoid">
            <a:avLst>
              <a:gd name="adj" fmla="val 314164"/>
            </a:avLst>
          </a:prstGeom>
          <a:gradFill>
            <a:gsLst>
              <a:gs pos="100000">
                <a:schemeClr val="accent1">
                  <a:alpha val="64000"/>
                </a:schemeClr>
              </a:gs>
              <a:gs pos="0">
                <a:schemeClr val="accent6">
                  <a:alpha val="0"/>
                </a:schemeClr>
              </a:gs>
            </a:gsLst>
            <a:lin ang="5400000" scaled="0"/>
          </a:gra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5944C4-2C11-4A55-B067-863D214ACEBA}"/>
              </a:ext>
            </a:extLst>
          </p:cNvPr>
          <p:cNvSpPr/>
          <p:nvPr/>
        </p:nvSpPr>
        <p:spPr>
          <a:xfrm>
            <a:off x="2943225" y="3232539"/>
            <a:ext cx="6315075" cy="7694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latin typeface="+mj-ea"/>
                <a:ea typeface="+mj-ea"/>
              </a:rPr>
              <a:t>我们的</a:t>
            </a:r>
            <a:r>
              <a:rPr lang="en-US" altLang="zh-CN" sz="4400" b="1" dirty="0">
                <a:latin typeface="+mj-ea"/>
                <a:ea typeface="+mj-ea"/>
              </a:rPr>
              <a:t>3D</a:t>
            </a:r>
            <a:r>
              <a:rPr lang="zh-CN" altLang="en-US" sz="4400" b="1" dirty="0">
                <a:latin typeface="+mj-ea"/>
                <a:ea typeface="+mj-ea"/>
              </a:rPr>
              <a:t>打印铺开张了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9DD7D-38D3-4E7E-BA42-C64B1CF5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93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4C12657-147B-4EB2-B82E-041F05173925}"/>
              </a:ext>
            </a:extLst>
          </p:cNvPr>
          <p:cNvSpPr txBox="1"/>
          <p:nvPr/>
        </p:nvSpPr>
        <p:spPr>
          <a:xfrm>
            <a:off x="1387825" y="44247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+mj-ea"/>
                <a:ea typeface="+mj-ea"/>
              </a:rPr>
              <a:t>未来已来</a:t>
            </a:r>
            <a:endParaRPr lang="zh-CN" altLang="en-US" sz="3200" b="1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DA13C9-7CBB-4447-87AA-EEB4FE6B26D1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3BA3E2FF-FA69-4D9E-9CAF-6B0779104D5C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341A8819-6266-47FD-9B67-3F88B18713BA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A2FD3C90-DE93-41C5-81AB-4BEEE50920A2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梯形 5">
            <a:extLst>
              <a:ext uri="{FF2B5EF4-FFF2-40B4-BE49-F238E27FC236}">
                <a16:creationId xmlns:a16="http://schemas.microsoft.com/office/drawing/2014/main" id="{31C8CD5F-214C-42B8-ACFC-C730310DFBA7}"/>
              </a:ext>
            </a:extLst>
          </p:cNvPr>
          <p:cNvSpPr/>
          <p:nvPr/>
        </p:nvSpPr>
        <p:spPr>
          <a:xfrm>
            <a:off x="955898" y="6009797"/>
            <a:ext cx="10453289" cy="365395"/>
          </a:xfrm>
          <a:prstGeom prst="trapezoid">
            <a:avLst>
              <a:gd name="adj" fmla="val 425805"/>
            </a:avLst>
          </a:prstGeom>
          <a:gradFill>
            <a:gsLst>
              <a:gs pos="100000">
                <a:schemeClr val="accent1">
                  <a:alpha val="36000"/>
                </a:schemeClr>
              </a:gs>
              <a:gs pos="0">
                <a:schemeClr val="accent6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A9D8BE3-AD83-462C-BC9A-AD0DFF30BEAA}"/>
              </a:ext>
            </a:extLst>
          </p:cNvPr>
          <p:cNvSpPr/>
          <p:nvPr/>
        </p:nvSpPr>
        <p:spPr>
          <a:xfrm>
            <a:off x="644481" y="1190909"/>
            <a:ext cx="1797215" cy="670828"/>
          </a:xfrm>
          <a:prstGeom prst="roundRect">
            <a:avLst>
              <a:gd name="adj" fmla="val 50000"/>
            </a:avLst>
          </a:prstGeom>
          <a:gradFill>
            <a:gsLst>
              <a:gs pos="51000">
                <a:schemeClr val="accent1"/>
              </a:gs>
              <a:gs pos="0">
                <a:schemeClr val="accent6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  <a:effectLst>
            <a:outerShdw blurRad="317500" dist="317500" dir="8100000" algn="tr" rotWithShape="0">
              <a:schemeClr val="accent1">
                <a:lumMod val="5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2500" b="1" dirty="0">
                <a:solidFill>
                  <a:prstClr val="white"/>
                </a:solidFill>
                <a:latin typeface="+mj-ea"/>
                <a:ea typeface="+mj-ea"/>
              </a:rPr>
              <a:t>What</a:t>
            </a:r>
            <a:endParaRPr lang="zh-CN" altLang="en-US" sz="2500" b="1" dirty="0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18C4793-8E5F-4068-8CEE-BB07F7B85279}"/>
              </a:ext>
            </a:extLst>
          </p:cNvPr>
          <p:cNvSpPr txBox="1"/>
          <p:nvPr/>
        </p:nvSpPr>
        <p:spPr>
          <a:xfrm>
            <a:off x="644481" y="2015938"/>
            <a:ext cx="4415775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3D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打印，也称为增材制造（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Additive Manufacturing, AM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），是一种制造技术，它通过逐层添加材料的方式来构建三维物体。</a:t>
            </a:r>
            <a:endParaRPr lang="en-US" altLang="zh-CN" sz="16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accent1"/>
                </a:solidFill>
              </a:rPr>
              <a:t>属于少数者的产品客制化工具</a:t>
            </a:r>
            <a:endParaRPr lang="en-US" altLang="zh-CN" sz="16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354C7FC-9968-450C-B8A6-E86F293A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682C1A-81F2-46A5-3C81-716A27E8C2CA}"/>
              </a:ext>
            </a:extLst>
          </p:cNvPr>
          <p:cNvSpPr txBox="1"/>
          <p:nvPr/>
        </p:nvSpPr>
        <p:spPr>
          <a:xfrm>
            <a:off x="5700731" y="2015938"/>
            <a:ext cx="5626238" cy="358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 b="0" i="0">
                <a:solidFill>
                  <a:srgbClr val="060607"/>
                </a:solidFill>
                <a:effectLst/>
                <a:latin typeface="-apple-system"/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数字模型：首先，需要一个三维数字模型，通常通过计算机辅助设计（</a:t>
            </a:r>
            <a:r>
              <a:rPr lang="en-US" altLang="zh-CN" dirty="0"/>
              <a:t>CAD</a:t>
            </a:r>
            <a:r>
              <a:rPr lang="zh-CN" altLang="en-US" dirty="0"/>
              <a:t>）软件创建。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切片软件：使用切片软件将三维模型分割成一系列薄层，每个层对应于</a:t>
            </a:r>
            <a:r>
              <a:rPr lang="en-US" altLang="zh-CN" dirty="0"/>
              <a:t>3D</a:t>
            </a:r>
            <a:r>
              <a:rPr lang="zh-CN" altLang="en-US" dirty="0"/>
              <a:t>打印机将要打印的一个物理层。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逐层构建：</a:t>
            </a:r>
            <a:r>
              <a:rPr lang="en-US" altLang="zh-CN" dirty="0"/>
              <a:t>3D</a:t>
            </a:r>
            <a:r>
              <a:rPr lang="zh-CN" altLang="en-US" dirty="0"/>
              <a:t>打印机根据切片软件生成的指令，逐层沉积材料，每层材料固化后形成物体的一部分。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材料固化：每层材料通过热、光或其他方式固化，然后打印机移动到下一个层，重复此过程，直到整个物体完成。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2F98008-34ED-6093-B47B-8DEF794CF388}"/>
              </a:ext>
            </a:extLst>
          </p:cNvPr>
          <p:cNvSpPr/>
          <p:nvPr/>
        </p:nvSpPr>
        <p:spPr>
          <a:xfrm>
            <a:off x="5822017" y="1218700"/>
            <a:ext cx="1797215" cy="670828"/>
          </a:xfrm>
          <a:prstGeom prst="roundRect">
            <a:avLst>
              <a:gd name="adj" fmla="val 50000"/>
            </a:avLst>
          </a:prstGeom>
          <a:gradFill>
            <a:gsLst>
              <a:gs pos="51000">
                <a:schemeClr val="accent1"/>
              </a:gs>
              <a:gs pos="0">
                <a:schemeClr val="accent6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  <a:effectLst>
            <a:outerShdw blurRad="317500" dist="317500" dir="8100000" algn="tr" rotWithShape="0">
              <a:schemeClr val="accent1">
                <a:lumMod val="5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2500" b="1" dirty="0">
                <a:solidFill>
                  <a:prstClr val="white"/>
                </a:solidFill>
                <a:latin typeface="+mj-ea"/>
                <a:ea typeface="+mj-ea"/>
              </a:rPr>
              <a:t>How</a:t>
            </a:r>
            <a:endParaRPr lang="zh-CN" altLang="en-US" sz="2500" b="1" dirty="0">
              <a:solidFill>
                <a:prstClr val="white"/>
              </a:solidFill>
              <a:latin typeface="+mj-ea"/>
              <a:ea typeface="+mj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0BE40B4-A5C5-83BB-10B3-7E4419050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69" y="3457710"/>
            <a:ext cx="4415774" cy="2484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6074036-34A2-4588-C64A-BFA10A77CCE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8503" y="4140073"/>
            <a:ext cx="2031767" cy="20524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2279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ED23-7C08-51E9-4400-1DAB07E7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890C00B-8421-DC7F-7176-95A120CE5FB7}"/>
              </a:ext>
            </a:extLst>
          </p:cNvPr>
          <p:cNvSpPr txBox="1"/>
          <p:nvPr/>
        </p:nvSpPr>
        <p:spPr>
          <a:xfrm>
            <a:off x="1387825" y="442471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设备与</a:t>
            </a:r>
            <a:r>
              <a:rPr lang="zh-CN" altLang="en-US" sz="3200" b="1" dirty="0">
                <a:solidFill>
                  <a:schemeClr val="accent1"/>
                </a:solidFill>
                <a:latin typeface="+mj-ea"/>
                <a:ea typeface="+mj-ea"/>
              </a:rPr>
              <a:t>耗材</a:t>
            </a:r>
            <a:endParaRPr lang="zh-CN" altLang="en-US" sz="3200" b="1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23C731-7190-370E-B0C6-8C295A10A868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DD14AB81-0AEA-705C-0926-81FC0B4EF4E6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CBBC6F2C-1746-F0EB-BABD-E46C0876AD88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FE71993A-B038-1F53-0AB7-3A40FC6FB344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2" name="梯形 51">
            <a:extLst>
              <a:ext uri="{FF2B5EF4-FFF2-40B4-BE49-F238E27FC236}">
                <a16:creationId xmlns:a16="http://schemas.microsoft.com/office/drawing/2014/main" id="{40EE0679-7741-DFD9-E980-1951811D7CB1}"/>
              </a:ext>
            </a:extLst>
          </p:cNvPr>
          <p:cNvSpPr/>
          <p:nvPr/>
        </p:nvSpPr>
        <p:spPr>
          <a:xfrm>
            <a:off x="572573" y="6020902"/>
            <a:ext cx="11046854" cy="365395"/>
          </a:xfrm>
          <a:prstGeom prst="trapezoid">
            <a:avLst>
              <a:gd name="adj" fmla="val 425805"/>
            </a:avLst>
          </a:prstGeom>
          <a:gradFill>
            <a:gsLst>
              <a:gs pos="100000">
                <a:schemeClr val="accent1">
                  <a:alpha val="18000"/>
                </a:schemeClr>
              </a:gs>
              <a:gs pos="37000">
                <a:schemeClr val="accent6">
                  <a:alpha val="0"/>
                </a:schemeClr>
              </a:gs>
            </a:gsLst>
            <a:lin ang="5400000" scaled="0"/>
          </a:gradFill>
          <a:ln>
            <a:gradFill>
              <a:gsLst>
                <a:gs pos="61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EBE009-83CA-7A69-414E-9294820C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1D0D36-1BAE-DBA8-080B-A30D70D4FD88}"/>
              </a:ext>
            </a:extLst>
          </p:cNvPr>
          <p:cNvSpPr txBox="1"/>
          <p:nvPr/>
        </p:nvSpPr>
        <p:spPr>
          <a:xfrm>
            <a:off x="414120" y="1097626"/>
            <a:ext cx="3156819" cy="19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 b="0" i="0">
                <a:solidFill>
                  <a:srgbClr val="060607"/>
                </a:solidFill>
                <a:effectLst/>
                <a:latin typeface="-apple-system"/>
              </a:defRPr>
            </a:lvl1pPr>
          </a:lstStyle>
          <a:p>
            <a:r>
              <a:rPr lang="en-US" altLang="zh-CN" b="1" dirty="0"/>
              <a:t>3D</a:t>
            </a:r>
            <a:r>
              <a:rPr lang="zh-CN" altLang="en-US" b="1" dirty="0"/>
              <a:t>打印技术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熔融沉积建模（</a:t>
            </a:r>
            <a:r>
              <a:rPr lang="en-US" altLang="zh-CN" dirty="0">
                <a:highlight>
                  <a:srgbClr val="FFFF00"/>
                </a:highlight>
              </a:rPr>
              <a:t>FDM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立体光刻（</a:t>
            </a:r>
            <a:r>
              <a:rPr lang="en-US" altLang="zh-CN" dirty="0"/>
              <a:t>SLA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选择性激光烧结（</a:t>
            </a:r>
            <a:r>
              <a:rPr lang="en-US" altLang="zh-CN" dirty="0"/>
              <a:t>SLS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多射流熔融（</a:t>
            </a:r>
            <a:r>
              <a:rPr lang="en-US" altLang="zh-CN" dirty="0"/>
              <a:t>MJF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金属</a:t>
            </a:r>
            <a:r>
              <a:rPr lang="en-US" altLang="zh-CN" dirty="0"/>
              <a:t>3D</a:t>
            </a:r>
            <a:r>
              <a:rPr lang="zh-CN" altLang="en-US" dirty="0"/>
              <a:t>打印（</a:t>
            </a:r>
            <a:r>
              <a:rPr lang="en-US" altLang="zh-CN" dirty="0"/>
              <a:t>SLM/DMLS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0F5CED-03DB-CAA4-2B6A-79CA659A614E}"/>
              </a:ext>
            </a:extLst>
          </p:cNvPr>
          <p:cNvSpPr txBox="1"/>
          <p:nvPr/>
        </p:nvSpPr>
        <p:spPr>
          <a:xfrm>
            <a:off x="3570939" y="1097626"/>
            <a:ext cx="38169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600" b="0" i="0">
                <a:solidFill>
                  <a:srgbClr val="060607"/>
                </a:solidFill>
                <a:effectLst/>
                <a:latin typeface="-apple-system"/>
              </a:defRPr>
            </a:lvl1pPr>
          </a:lstStyle>
          <a:p>
            <a:r>
              <a:rPr lang="zh-CN" altLang="en-US" b="1" dirty="0"/>
              <a:t>打印耗材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热塑性塑料（</a:t>
            </a:r>
            <a:r>
              <a:rPr lang="en-US" altLang="zh-CN" dirty="0">
                <a:highlight>
                  <a:srgbClr val="FFFF00"/>
                </a:highlight>
              </a:rPr>
              <a:t>PLA</a:t>
            </a:r>
            <a:r>
              <a:rPr lang="zh-CN" altLang="en-US" dirty="0"/>
              <a:t>、</a:t>
            </a:r>
            <a:r>
              <a:rPr lang="en-US" altLang="zh-CN" dirty="0"/>
              <a:t>ABS</a:t>
            </a:r>
            <a:r>
              <a:rPr lang="zh-CN" altLang="en-US" dirty="0"/>
              <a:t>等）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光敏树脂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金属粉末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陶瓷和复合材料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生物材料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5B7EDB4-DCD2-06C2-92DE-45DEA9B1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456" y="3965097"/>
            <a:ext cx="4922219" cy="2421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F68AFADB-8354-F5CF-6918-FC2D7AD0D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715406"/>
              </p:ext>
            </p:extLst>
          </p:nvPr>
        </p:nvGraphicFramePr>
        <p:xfrm>
          <a:off x="323850" y="3254702"/>
          <a:ext cx="6804606" cy="3053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7320">
                  <a:extLst>
                    <a:ext uri="{9D8B030D-6E8A-4147-A177-3AD203B41FA5}">
                      <a16:colId xmlns:a16="http://schemas.microsoft.com/office/drawing/2014/main" val="1047906901"/>
                    </a:ext>
                  </a:extLst>
                </a:gridCol>
                <a:gridCol w="2608870">
                  <a:extLst>
                    <a:ext uri="{9D8B030D-6E8A-4147-A177-3AD203B41FA5}">
                      <a16:colId xmlns:a16="http://schemas.microsoft.com/office/drawing/2014/main" val="2008164016"/>
                    </a:ext>
                  </a:extLst>
                </a:gridCol>
                <a:gridCol w="2688416">
                  <a:extLst>
                    <a:ext uri="{9D8B030D-6E8A-4147-A177-3AD203B41FA5}">
                      <a16:colId xmlns:a16="http://schemas.microsoft.com/office/drawing/2014/main" val="1985069817"/>
                    </a:ext>
                  </a:extLst>
                </a:gridCol>
              </a:tblGrid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特性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en-US" altLang="zh-CN" sz="1400" b="1">
                          <a:effectLst/>
                        </a:rPr>
                        <a:t>ABS</a:t>
                      </a:r>
                      <a:r>
                        <a:rPr lang="zh-CN" altLang="en-US" sz="1400" b="1">
                          <a:effectLst/>
                        </a:rPr>
                        <a:t>（丙烯腈</a:t>
                      </a:r>
                      <a:r>
                        <a:rPr lang="en-US" altLang="zh-CN" sz="1400" b="1">
                          <a:effectLst/>
                        </a:rPr>
                        <a:t>-</a:t>
                      </a:r>
                      <a:r>
                        <a:rPr lang="zh-CN" altLang="en-US" sz="1400" b="1">
                          <a:effectLst/>
                        </a:rPr>
                        <a:t>丁二烯</a:t>
                      </a:r>
                      <a:r>
                        <a:rPr lang="en-US" altLang="zh-CN" sz="1400" b="1">
                          <a:effectLst/>
                        </a:rPr>
                        <a:t>-</a:t>
                      </a:r>
                      <a:r>
                        <a:rPr lang="zh-CN" altLang="en-US" sz="1400" b="1">
                          <a:effectLst/>
                        </a:rPr>
                        <a:t>苯乙烯）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en-US" sz="1400" b="1">
                          <a:effectLst/>
                        </a:rPr>
                        <a:t>PLA（</a:t>
                      </a:r>
                      <a:r>
                        <a:rPr lang="zh-CN" altLang="en-US" sz="1400" b="1">
                          <a:effectLst/>
                        </a:rPr>
                        <a:t>聚乳酸）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2041755876"/>
                  </a:ext>
                </a:extLst>
              </a:tr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强度和耐冲击性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高强度和耐冲击性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强度较低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1522966546"/>
                  </a:ext>
                </a:extLst>
              </a:tr>
              <a:tr h="478206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耐热性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</a:rPr>
                        <a:t>较好，能承受较高温度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</a:rPr>
                        <a:t>耐热性较差，易在高温下变形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2415616556"/>
                  </a:ext>
                </a:extLst>
              </a:tr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加工性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易于加工成各种形状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</a:rPr>
                        <a:t>易于后处理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4251305627"/>
                  </a:ext>
                </a:extLst>
              </a:tr>
              <a:tr h="478206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环境影响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打印时可能有气味，需要通风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  <a:highlight>
                            <a:srgbClr val="FFFF00"/>
                          </a:highlight>
                        </a:rPr>
                        <a:t>环保，可生物降解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443949960"/>
                  </a:ext>
                </a:extLst>
              </a:tr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收缩率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</a:rPr>
                        <a:t>较高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极低，约</a:t>
                      </a:r>
                      <a:r>
                        <a:rPr lang="en-US" altLang="zh-CN" sz="1400">
                          <a:effectLst/>
                        </a:rPr>
                        <a:t>0.3%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970004223"/>
                  </a:ext>
                </a:extLst>
              </a:tr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>
                          <a:effectLst/>
                        </a:rPr>
                        <a:t>打印温度</a:t>
                      </a:r>
                      <a:endParaRPr lang="zh-CN" altLang="en-US" sz="140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较高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较低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317738135"/>
                  </a:ext>
                </a:extLst>
              </a:tr>
              <a:tr h="28913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b="1" dirty="0">
                          <a:effectLst/>
                        </a:rPr>
                        <a:t>应用场景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>
                          <a:effectLst/>
                        </a:rPr>
                        <a:t>功能性零件和复杂部件</a:t>
                      </a:r>
                    </a:p>
                  </a:txBody>
                  <a:tcPr marL="87086" marR="87086" marT="65314" marB="6531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lang="zh-CN" altLang="en-US" sz="1400" dirty="0">
                          <a:effectLst/>
                          <a:highlight>
                            <a:srgbClr val="FFFF00"/>
                          </a:highlight>
                        </a:rPr>
                        <a:t>原型制作和日常打印品</a:t>
                      </a:r>
                    </a:p>
                  </a:txBody>
                  <a:tcPr marL="87086" marR="87086" marT="65314" marB="65314" anchor="ctr"/>
                </a:tc>
                <a:extLst>
                  <a:ext uri="{0D108BD9-81ED-4DB2-BD59-A6C34878D82A}">
                    <a16:rowId xmlns:a16="http://schemas.microsoft.com/office/drawing/2014/main" val="1875859531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8C5824C1-047E-33BC-CECE-AF90872C7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846" y="363898"/>
            <a:ext cx="4343101" cy="37259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435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9E48-2607-704C-D73F-BDD28AE9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0B649E4-334D-2FC2-ED9A-459338BB8C78}"/>
              </a:ext>
            </a:extLst>
          </p:cNvPr>
          <p:cNvSpPr txBox="1"/>
          <p:nvPr/>
        </p:nvSpPr>
        <p:spPr>
          <a:xfrm>
            <a:off x="1387825" y="442471"/>
            <a:ext cx="2315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3D</a:t>
            </a:r>
            <a:r>
              <a:rPr lang="zh-CN" altLang="en-US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打印步骤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39B2BA-5D71-FF0F-B0C4-186DD15D6FD4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9E40F273-467B-7AF2-C3EC-A4434D1F87AF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CCC263D7-9E2D-35F1-52BB-B0DF5D9CD691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55ABD602-6A9C-AAB0-2E6B-D7B1FAC4079E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39E85B-86AA-1F1B-BE4D-A7E146E6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270" y="6381167"/>
            <a:ext cx="2743200" cy="365125"/>
          </a:xfrm>
        </p:spPr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BAF8A0-F5FC-2EA1-AC9C-DC8D907DD32D}"/>
              </a:ext>
            </a:extLst>
          </p:cNvPr>
          <p:cNvSpPr txBox="1"/>
          <p:nvPr/>
        </p:nvSpPr>
        <p:spPr>
          <a:xfrm>
            <a:off x="1630605" y="1054063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建模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1D7108-2C75-757D-A2AD-39C0644F41F6}"/>
              </a:ext>
            </a:extLst>
          </p:cNvPr>
          <p:cNvSpPr txBox="1"/>
          <p:nvPr/>
        </p:nvSpPr>
        <p:spPr>
          <a:xfrm>
            <a:off x="5443983" y="1022853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2)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切片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FEB23B-AE98-951A-6B60-3971D0CA7883}"/>
              </a:ext>
            </a:extLst>
          </p:cNvPr>
          <p:cNvSpPr txBox="1"/>
          <p:nvPr/>
        </p:nvSpPr>
        <p:spPr>
          <a:xfrm>
            <a:off x="9242077" y="1054063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3)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打印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163BF26-9203-0AD2-0077-DCDA00AA7A5A}"/>
              </a:ext>
            </a:extLst>
          </p:cNvPr>
          <p:cNvSpPr/>
          <p:nvPr/>
        </p:nvSpPr>
        <p:spPr>
          <a:xfrm>
            <a:off x="3038948" y="1170187"/>
            <a:ext cx="2069641" cy="23182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6E04EE2-C731-9C20-79F9-7DD73EF88375}"/>
              </a:ext>
            </a:extLst>
          </p:cNvPr>
          <p:cNvSpPr/>
          <p:nvPr/>
        </p:nvSpPr>
        <p:spPr>
          <a:xfrm>
            <a:off x="6836069" y="1155230"/>
            <a:ext cx="2069641" cy="23182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554630-2DE0-66FB-0452-3F62B268288C}"/>
              </a:ext>
            </a:extLst>
          </p:cNvPr>
          <p:cNvSpPr txBox="1"/>
          <p:nvPr/>
        </p:nvSpPr>
        <p:spPr>
          <a:xfrm>
            <a:off x="9242077" y="1546771"/>
            <a:ext cx="144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</a:rPr>
              <a:t>Bamboo Handy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98DA132-84BE-05D2-E477-1F30A16F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257" y="1880304"/>
            <a:ext cx="1635389" cy="349765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F734CFB-BDBE-70E4-39BF-2D99560282E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302" y="1914187"/>
            <a:ext cx="3839490" cy="2155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8604DC-C035-66AD-77DA-A5854363021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499" b="96317" l="3234" r="95569">
                        <a14:foregroundMark x1="57725" y1="50283" x2="57725" y2="50283"/>
                        <a14:foregroundMark x1="48982" y1="69972" x2="48144" y2="69688"/>
                        <a14:foregroundMark x1="44311" y1="42210" x2="46228" y2="38244"/>
                        <a14:foregroundMark x1="52814" y1="25354" x2="52814" y2="24363"/>
                        <a14:foregroundMark x1="52335" y1="16997" x2="52335" y2="16997"/>
                        <a14:foregroundMark x1="43473" y1="15014" x2="43473" y2="15014"/>
                        <a14:foregroundMark x1="32575" y1="21105" x2="38922" y2="31161"/>
                        <a14:foregroundMark x1="37725" y1="39943" x2="33653" y2="39660"/>
                        <a14:foregroundMark x1="14491" y1="25637" x2="57844" y2="24504"/>
                        <a14:foregroundMark x1="57844" y1="24504" x2="85629" y2="45892"/>
                        <a14:foregroundMark x1="85629" y1="45892" x2="82515" y2="75921"/>
                        <a14:foregroundMark x1="82515" y1="75921" x2="35210" y2="77620"/>
                        <a14:foregroundMark x1="35210" y1="77620" x2="15329" y2="42210"/>
                        <a14:foregroundMark x1="15329" y1="42210" x2="16647" y2="26346"/>
                        <a14:foregroundMark x1="4910" y1="18272" x2="33653" y2="17280"/>
                        <a14:foregroundMark x1="40838" y1="14023" x2="62156" y2="16572"/>
                        <a14:foregroundMark x1="74491" y1="21105" x2="89820" y2="29603"/>
                        <a14:foregroundMark x1="93892" y1="19263" x2="95569" y2="41218"/>
                        <a14:foregroundMark x1="45389" y1="37394" x2="56407" y2="60623"/>
                        <a14:foregroundMark x1="60479" y1="34703" x2="46707" y2="68414"/>
                        <a14:foregroundMark x1="46707" y1="68414" x2="47545" y2="38527"/>
                        <a14:foregroundMark x1="47545" y1="38527" x2="48503" y2="37960"/>
                        <a14:foregroundMark x1="33413" y1="35977" x2="55329" y2="34278"/>
                        <a14:foregroundMark x1="55329" y1="34278" x2="61916" y2="65439"/>
                        <a14:foregroundMark x1="61916" y1="65439" x2="34251" y2="50708"/>
                        <a14:foregroundMark x1="34251" y1="50708" x2="28144" y2="42493"/>
                        <a14:foregroundMark x1="34251" y1="84986" x2="64311" y2="86544"/>
                        <a14:foregroundMark x1="71138" y1="85836" x2="92575" y2="72663"/>
                        <a14:foregroundMark x1="92575" y1="72663" x2="92216" y2="45751"/>
                        <a14:foregroundMark x1="57725" y1="90368" x2="31976" y2="91360"/>
                        <a14:foregroundMark x1="31976" y1="91360" x2="31976" y2="91360"/>
                        <a14:foregroundMark x1="64072" y1="34136" x2="61916" y2="63173"/>
                        <a14:foregroundMark x1="73413" y1="48300" x2="79162" y2="68697"/>
                        <a14:foregroundMark x1="79641" y1="85836" x2="91737" y2="85836"/>
                        <a14:foregroundMark x1="73653" y1="63173" x2="75808" y2="73938"/>
                        <a14:foregroundMark x1="15569" y1="56799" x2="21437" y2="84136"/>
                        <a14:foregroundMark x1="21437" y1="84136" x2="23593" y2="82295"/>
                        <a14:foregroundMark x1="22994" y1="48300" x2="30060" y2="56799"/>
                        <a14:foregroundMark x1="7904" y1="50283" x2="8263" y2="79745"/>
                        <a14:foregroundMark x1="8263" y1="79745" x2="22395" y2="87252"/>
                        <a14:foregroundMark x1="7425" y1="50283" x2="26587" y2="76487"/>
                        <a14:foregroundMark x1="4910" y1="64873" x2="4910" y2="64873"/>
                        <a14:foregroundMark x1="3234" y1="49008" x2="3234" y2="49008"/>
                        <a14:foregroundMark x1="46587" y1="22096" x2="46587" y2="22096"/>
                        <a14:foregroundMark x1="56647" y1="24079" x2="56647" y2="24079"/>
                        <a14:foregroundMark x1="25988" y1="38952" x2="25988" y2="38952"/>
                        <a14:foregroundMark x1="3832" y1="37677" x2="3832" y2="37677"/>
                        <a14:foregroundMark x1="14251" y1="34703" x2="14251" y2="34703"/>
                        <a14:foregroundMark x1="14251" y1="34703" x2="14251" y2="34703"/>
                        <a14:foregroundMark x1="23593" y1="35127" x2="23593" y2="35127"/>
                        <a14:foregroundMark x1="23593" y1="35127" x2="23593" y2="35127"/>
                        <a14:foregroundMark x1="7425" y1="29887" x2="25509" y2="42493"/>
                        <a14:foregroundMark x1="20838" y1="28612" x2="29581" y2="41218"/>
                        <a14:foregroundMark x1="20479" y1="32436" x2="21317" y2="34136"/>
                        <a14:foregroundMark x1="5509" y1="27337" x2="7665" y2="39943"/>
                        <a14:foregroundMark x1="9820" y1="26062" x2="15808" y2="29603"/>
                        <a14:foregroundMark x1="3832" y1="24646" x2="4910" y2="37394"/>
                        <a14:foregroundMark x1="14731" y1="13031" x2="21078" y2="13314"/>
                        <a14:foregroundMark x1="44671" y1="8499" x2="53054" y2="9490"/>
                        <a14:foregroundMark x1="79880" y1="13314" x2="85150" y2="14731"/>
                        <a14:foregroundMark x1="68383" y1="54533" x2="67665" y2="70963"/>
                        <a14:foregroundMark x1="68144" y1="79037" x2="68144" y2="90793"/>
                        <a14:foregroundMark x1="62635" y1="96317" x2="37485" y2="95326"/>
                        <a14:foregroundMark x1="37006" y1="43201" x2="37006" y2="43201"/>
                        <a14:foregroundMark x1="53413" y1="43484" x2="53413" y2="43484"/>
                        <a14:foregroundMark x1="61557" y1="42776" x2="61557" y2="42776"/>
                        <a14:foregroundMark x1="30419" y1="30170" x2="31257" y2="382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4227" y="4204334"/>
            <a:ext cx="1436263" cy="121437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4AE6B74-70B3-3A34-2D80-787B19D31F70}"/>
              </a:ext>
            </a:extLst>
          </p:cNvPr>
          <p:cNvSpPr txBox="1"/>
          <p:nvPr/>
        </p:nvSpPr>
        <p:spPr>
          <a:xfrm>
            <a:off x="5382708" y="1545464"/>
            <a:ext cx="144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</a:rPr>
              <a:t>Bamboo Studio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9EFD2A-5B34-7483-A7B4-15DB180913D4}"/>
              </a:ext>
            </a:extLst>
          </p:cNvPr>
          <p:cNvSpPr txBox="1"/>
          <p:nvPr/>
        </p:nvSpPr>
        <p:spPr>
          <a:xfrm>
            <a:off x="1447895" y="1540268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</a:rPr>
              <a:t>www.tinkercad.com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950AF21-1E0A-6195-5F82-33EE679EE3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386" y="1914187"/>
            <a:ext cx="3568848" cy="19721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B943934-322D-65BD-DF65-48D93C0D26B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302" y="4130733"/>
            <a:ext cx="3544292" cy="231301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6591C61-2362-438D-E344-E6047BBD931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75" y="3452156"/>
            <a:ext cx="3019983" cy="86833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C7F14C5-2E68-5D3B-FA4A-4320CBF9488A}"/>
              </a:ext>
            </a:extLst>
          </p:cNvPr>
          <p:cNvSpPr txBox="1"/>
          <p:nvPr/>
        </p:nvSpPr>
        <p:spPr>
          <a:xfrm>
            <a:off x="1177230" y="4212485"/>
            <a:ext cx="194155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建模工具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1600" dirty="0"/>
              <a:t>初级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/>
              <a:t>Tinkercad</a:t>
            </a:r>
          </a:p>
          <a:p>
            <a:pPr marL="800100" lvl="1" indent="-342900">
              <a:buAutoNum type="arabicPeriod"/>
            </a:pPr>
            <a:r>
              <a:rPr lang="en-US" altLang="zh-CN" sz="1600" dirty="0"/>
              <a:t>Blender</a:t>
            </a:r>
          </a:p>
          <a:p>
            <a:pPr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1600" dirty="0"/>
              <a:t>中级</a:t>
            </a:r>
            <a:endParaRPr lang="en-US" altLang="zh-CN" sz="1600" dirty="0"/>
          </a:p>
          <a:p>
            <a:pPr marL="800100" lvl="1" indent="-342900">
              <a:buAutoNum type="arabicPeriod"/>
            </a:pPr>
            <a:r>
              <a:rPr lang="en-US" altLang="zh-CN" sz="1600" dirty="0"/>
              <a:t>SketchUp</a:t>
            </a:r>
          </a:p>
          <a:p>
            <a:pPr marL="800100" lvl="1" indent="-342900">
              <a:buAutoNum type="arabicPeriod"/>
            </a:pPr>
            <a:r>
              <a:rPr lang="en-US" altLang="zh-CN" sz="1600" dirty="0"/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171706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852D-6FA4-65C1-1E43-80D61AFF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9D11AA5-8DB9-7066-D266-3EB0F39BD842}"/>
              </a:ext>
            </a:extLst>
          </p:cNvPr>
          <p:cNvSpPr txBox="1"/>
          <p:nvPr/>
        </p:nvSpPr>
        <p:spPr>
          <a:xfrm>
            <a:off x="1387825" y="442471"/>
            <a:ext cx="3956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3D</a:t>
            </a:r>
            <a:r>
              <a:rPr lang="zh-CN" altLang="en-US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打印步骤</a:t>
            </a:r>
            <a:r>
              <a:rPr lang="zh-CN" altLang="en-US" sz="3200" b="1" dirty="0">
                <a:solidFill>
                  <a:schemeClr val="accent1"/>
                </a:solidFill>
                <a:latin typeface="+mj-ea"/>
                <a:ea typeface="+mj-ea"/>
              </a:rPr>
              <a:t>（</a:t>
            </a:r>
            <a:r>
              <a:rPr lang="zh-CN" altLang="en-US" sz="3200" b="1" dirty="0">
                <a:solidFill>
                  <a:schemeClr val="accent1"/>
                </a:solidFill>
                <a:effectLst/>
                <a:latin typeface="+mj-ea"/>
                <a:ea typeface="+mj-ea"/>
              </a:rPr>
              <a:t>小白）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26F9F61-AE18-1646-4F0B-3B6E777CE9C8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BF7C5676-07AF-9701-3B78-4E804E755D4C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4F92A21D-BC77-A311-2DF1-78DE1DD09C99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0C4F89AE-D2AA-1580-D57F-DFF8E6E3B3B2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71244F8-FEDD-55D2-7627-80B2A5AA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F40546-52E8-3867-4325-7B628065CCCB}"/>
              </a:ext>
            </a:extLst>
          </p:cNvPr>
          <p:cNvSpPr txBox="1"/>
          <p:nvPr/>
        </p:nvSpPr>
        <p:spPr>
          <a:xfrm>
            <a:off x="2144400" y="1285536"/>
            <a:ext cx="1120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选择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C2D599-DF7A-B79A-44AA-55FAB4E9A881}"/>
              </a:ext>
            </a:extLst>
          </p:cNvPr>
          <p:cNvSpPr txBox="1"/>
          <p:nvPr/>
        </p:nvSpPr>
        <p:spPr>
          <a:xfrm>
            <a:off x="8839015" y="1283185"/>
            <a:ext cx="1120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2)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打印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522BED8-1D69-54DC-8AC5-83AEB6945EA9}"/>
              </a:ext>
            </a:extLst>
          </p:cNvPr>
          <p:cNvSpPr/>
          <p:nvPr/>
        </p:nvSpPr>
        <p:spPr>
          <a:xfrm>
            <a:off x="4099341" y="1400457"/>
            <a:ext cx="4669854" cy="235159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0091CE-6F57-5D0C-123D-571029425EE1}"/>
              </a:ext>
            </a:extLst>
          </p:cNvPr>
          <p:cNvSpPr txBox="1"/>
          <p:nvPr/>
        </p:nvSpPr>
        <p:spPr>
          <a:xfrm>
            <a:off x="8839015" y="1775893"/>
            <a:ext cx="144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</a:rPr>
              <a:t>Bamboo Handy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2FC4D3-3818-653C-F8D9-365757B3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195" y="2109426"/>
            <a:ext cx="1635389" cy="34976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8ED6B6-4A48-035D-B7FB-4BD1D4F5799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9" b="96317" l="3234" r="95569">
                        <a14:foregroundMark x1="57725" y1="50283" x2="57725" y2="50283"/>
                        <a14:foregroundMark x1="48982" y1="69972" x2="48144" y2="69688"/>
                        <a14:foregroundMark x1="44311" y1="42210" x2="46228" y2="38244"/>
                        <a14:foregroundMark x1="52814" y1="25354" x2="52814" y2="24363"/>
                        <a14:foregroundMark x1="52335" y1="16997" x2="52335" y2="16997"/>
                        <a14:foregroundMark x1="43473" y1="15014" x2="43473" y2="15014"/>
                        <a14:foregroundMark x1="32575" y1="21105" x2="38922" y2="31161"/>
                        <a14:foregroundMark x1="37725" y1="39943" x2="33653" y2="39660"/>
                        <a14:foregroundMark x1="14491" y1="25637" x2="57844" y2="24504"/>
                        <a14:foregroundMark x1="57844" y1="24504" x2="85629" y2="45892"/>
                        <a14:foregroundMark x1="85629" y1="45892" x2="82515" y2="75921"/>
                        <a14:foregroundMark x1="82515" y1="75921" x2="35210" y2="77620"/>
                        <a14:foregroundMark x1="35210" y1="77620" x2="15329" y2="42210"/>
                        <a14:foregroundMark x1="15329" y1="42210" x2="16647" y2="26346"/>
                        <a14:foregroundMark x1="4910" y1="18272" x2="33653" y2="17280"/>
                        <a14:foregroundMark x1="40838" y1="14023" x2="62156" y2="16572"/>
                        <a14:foregroundMark x1="74491" y1="21105" x2="89820" y2="29603"/>
                        <a14:foregroundMark x1="93892" y1="19263" x2="95569" y2="41218"/>
                        <a14:foregroundMark x1="45389" y1="37394" x2="56407" y2="60623"/>
                        <a14:foregroundMark x1="60479" y1="34703" x2="46707" y2="68414"/>
                        <a14:foregroundMark x1="46707" y1="68414" x2="47545" y2="38527"/>
                        <a14:foregroundMark x1="47545" y1="38527" x2="48503" y2="37960"/>
                        <a14:foregroundMark x1="33413" y1="35977" x2="55329" y2="34278"/>
                        <a14:foregroundMark x1="55329" y1="34278" x2="61916" y2="65439"/>
                        <a14:foregroundMark x1="61916" y1="65439" x2="34251" y2="50708"/>
                        <a14:foregroundMark x1="34251" y1="50708" x2="28144" y2="42493"/>
                        <a14:foregroundMark x1="34251" y1="84986" x2="64311" y2="86544"/>
                        <a14:foregroundMark x1="71138" y1="85836" x2="92575" y2="72663"/>
                        <a14:foregroundMark x1="92575" y1="72663" x2="92216" y2="45751"/>
                        <a14:foregroundMark x1="57725" y1="90368" x2="31976" y2="91360"/>
                        <a14:foregroundMark x1="31976" y1="91360" x2="31976" y2="91360"/>
                        <a14:foregroundMark x1="64072" y1="34136" x2="61916" y2="63173"/>
                        <a14:foregroundMark x1="73413" y1="48300" x2="79162" y2="68697"/>
                        <a14:foregroundMark x1="79641" y1="85836" x2="91737" y2="85836"/>
                        <a14:foregroundMark x1="73653" y1="63173" x2="75808" y2="73938"/>
                        <a14:foregroundMark x1="15569" y1="56799" x2="21437" y2="84136"/>
                        <a14:foregroundMark x1="21437" y1="84136" x2="23593" y2="82295"/>
                        <a14:foregroundMark x1="22994" y1="48300" x2="30060" y2="56799"/>
                        <a14:foregroundMark x1="7904" y1="50283" x2="8263" y2="79745"/>
                        <a14:foregroundMark x1="8263" y1="79745" x2="22395" y2="87252"/>
                        <a14:foregroundMark x1="7425" y1="50283" x2="26587" y2="76487"/>
                        <a14:foregroundMark x1="4910" y1="64873" x2="4910" y2="64873"/>
                        <a14:foregroundMark x1="3234" y1="49008" x2="3234" y2="49008"/>
                        <a14:foregroundMark x1="46587" y1="22096" x2="46587" y2="22096"/>
                        <a14:foregroundMark x1="56647" y1="24079" x2="56647" y2="24079"/>
                        <a14:foregroundMark x1="25988" y1="38952" x2="25988" y2="38952"/>
                        <a14:foregroundMark x1="3832" y1="37677" x2="3832" y2="37677"/>
                        <a14:foregroundMark x1="14251" y1="34703" x2="14251" y2="34703"/>
                        <a14:foregroundMark x1="14251" y1="34703" x2="14251" y2="34703"/>
                        <a14:foregroundMark x1="23593" y1="35127" x2="23593" y2="35127"/>
                        <a14:foregroundMark x1="23593" y1="35127" x2="23593" y2="35127"/>
                        <a14:foregroundMark x1="7425" y1="29887" x2="25509" y2="42493"/>
                        <a14:foregroundMark x1="20838" y1="28612" x2="29581" y2="41218"/>
                        <a14:foregroundMark x1="20479" y1="32436" x2="21317" y2="34136"/>
                        <a14:foregroundMark x1="5509" y1="27337" x2="7665" y2="39943"/>
                        <a14:foregroundMark x1="9820" y1="26062" x2="15808" y2="29603"/>
                        <a14:foregroundMark x1="3832" y1="24646" x2="4910" y2="37394"/>
                        <a14:foregroundMark x1="14731" y1="13031" x2="21078" y2="13314"/>
                        <a14:foregroundMark x1="44671" y1="8499" x2="53054" y2="9490"/>
                        <a14:foregroundMark x1="79880" y1="13314" x2="85150" y2="14731"/>
                        <a14:foregroundMark x1="68383" y1="54533" x2="67665" y2="70963"/>
                        <a14:foregroundMark x1="68144" y1="79037" x2="68144" y2="90793"/>
                        <a14:foregroundMark x1="62635" y1="96317" x2="37485" y2="95326"/>
                        <a14:foregroundMark x1="37006" y1="43201" x2="37006" y2="43201"/>
                        <a14:foregroundMark x1="53413" y1="43484" x2="53413" y2="43484"/>
                        <a14:foregroundMark x1="61557" y1="42776" x2="61557" y2="42776"/>
                        <a14:foregroundMark x1="30419" y1="30170" x2="31257" y2="382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5495" y="4815733"/>
            <a:ext cx="1436263" cy="121437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A1064D7-B3A4-F94F-39A9-92B1FC24CE65}"/>
              </a:ext>
            </a:extLst>
          </p:cNvPr>
          <p:cNvSpPr txBox="1"/>
          <p:nvPr/>
        </p:nvSpPr>
        <p:spPr>
          <a:xfrm>
            <a:off x="1535932" y="1767601"/>
            <a:ext cx="2337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</a:rPr>
              <a:t>https://makerworld.com.cn/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45CA15F-F20C-0CF4-F609-460B1BDEF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79" y="2256308"/>
            <a:ext cx="5444482" cy="410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D4462-8D89-84AD-5434-ABE40AA1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86BEAB9-BC19-8A34-4782-B83D0B68A24D}"/>
              </a:ext>
            </a:extLst>
          </p:cNvPr>
          <p:cNvSpPr txBox="1"/>
          <p:nvPr/>
        </p:nvSpPr>
        <p:spPr>
          <a:xfrm>
            <a:off x="1387825" y="442471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+mj-ea"/>
                <a:ea typeface="+mj-ea"/>
              </a:rPr>
              <a:t>从解决一个小问题开始</a:t>
            </a:r>
            <a:endParaRPr lang="zh-CN" altLang="en-US" sz="3200" b="1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2059BE2-9AD2-2195-B56F-128E77BB982B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3B741EA0-C95C-1DE6-17F3-F86AD08C3916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2829F1C8-C604-78AD-F3D6-6E139F52C82D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0DDA8EBE-0A01-68C6-5970-A130E2F00843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2" name="梯形 51">
            <a:extLst>
              <a:ext uri="{FF2B5EF4-FFF2-40B4-BE49-F238E27FC236}">
                <a16:creationId xmlns:a16="http://schemas.microsoft.com/office/drawing/2014/main" id="{C9EC3AAD-DAE4-9059-8BF4-3AD1CAF7F920}"/>
              </a:ext>
            </a:extLst>
          </p:cNvPr>
          <p:cNvSpPr/>
          <p:nvPr/>
        </p:nvSpPr>
        <p:spPr>
          <a:xfrm>
            <a:off x="563266" y="5512307"/>
            <a:ext cx="11046854" cy="365395"/>
          </a:xfrm>
          <a:prstGeom prst="trapezoid">
            <a:avLst>
              <a:gd name="adj" fmla="val 425805"/>
            </a:avLst>
          </a:prstGeom>
          <a:gradFill>
            <a:gsLst>
              <a:gs pos="100000">
                <a:schemeClr val="accent1">
                  <a:alpha val="18000"/>
                </a:schemeClr>
              </a:gs>
              <a:gs pos="37000">
                <a:schemeClr val="accent6">
                  <a:alpha val="0"/>
                </a:schemeClr>
              </a:gs>
            </a:gsLst>
            <a:lin ang="5400000" scaled="0"/>
          </a:gradFill>
          <a:ln>
            <a:gradFill>
              <a:gsLst>
                <a:gs pos="61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D17A24E-106A-70A2-02E0-CDCFC3B9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19C78D-4A24-66FA-14C7-8C55D7BF4A4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519" y="1131889"/>
            <a:ext cx="3231446" cy="43094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FE96459-362D-5C9D-9FEC-D45143D6AC24}"/>
              </a:ext>
            </a:extLst>
          </p:cNvPr>
          <p:cNvSpPr/>
          <p:nvPr/>
        </p:nvSpPr>
        <p:spPr>
          <a:xfrm>
            <a:off x="610841" y="4166315"/>
            <a:ext cx="735001" cy="708339"/>
          </a:xfrm>
          <a:custGeom>
            <a:avLst/>
            <a:gdLst>
              <a:gd name="connsiteX0" fmla="*/ 142573 w 735001"/>
              <a:gd name="connsiteY0" fmla="*/ 128921 h 444454"/>
              <a:gd name="connsiteX1" fmla="*/ 187649 w 735001"/>
              <a:gd name="connsiteY1" fmla="*/ 83845 h 444454"/>
              <a:gd name="connsiteX2" fmla="*/ 400151 w 735001"/>
              <a:gd name="connsiteY2" fmla="*/ 45208 h 444454"/>
              <a:gd name="connsiteX3" fmla="*/ 445227 w 735001"/>
              <a:gd name="connsiteY3" fmla="*/ 70966 h 444454"/>
              <a:gd name="connsiteX4" fmla="*/ 509621 w 735001"/>
              <a:gd name="connsiteY4" fmla="*/ 96724 h 444454"/>
              <a:gd name="connsiteX5" fmla="*/ 586894 w 735001"/>
              <a:gd name="connsiteY5" fmla="*/ 219073 h 444454"/>
              <a:gd name="connsiteX6" fmla="*/ 709244 w 735001"/>
              <a:gd name="connsiteY6" fmla="*/ 219073 h 444454"/>
              <a:gd name="connsiteX7" fmla="*/ 735001 w 735001"/>
              <a:gd name="connsiteY7" fmla="*/ 270589 h 444454"/>
              <a:gd name="connsiteX8" fmla="*/ 709244 w 735001"/>
              <a:gd name="connsiteY8" fmla="*/ 341423 h 444454"/>
              <a:gd name="connsiteX9" fmla="*/ 438787 w 735001"/>
              <a:gd name="connsiteY9" fmla="*/ 444454 h 444454"/>
              <a:gd name="connsiteX10" fmla="*/ 26663 w 735001"/>
              <a:gd name="connsiteY10" fmla="*/ 199755 h 444454"/>
              <a:gd name="connsiteX11" fmla="*/ 7345 w 735001"/>
              <a:gd name="connsiteY11" fmla="*/ 148239 h 444454"/>
              <a:gd name="connsiteX12" fmla="*/ 905 w 735001"/>
              <a:gd name="connsiteY12" fmla="*/ 32330 h 444454"/>
              <a:gd name="connsiteX13" fmla="*/ 7345 w 735001"/>
              <a:gd name="connsiteY13" fmla="*/ 132 h 444454"/>
              <a:gd name="connsiteX14" fmla="*/ 78179 w 735001"/>
              <a:gd name="connsiteY14" fmla="*/ 25890 h 444454"/>
              <a:gd name="connsiteX15" fmla="*/ 174770 w 735001"/>
              <a:gd name="connsiteY15" fmla="*/ 32330 h 444454"/>
              <a:gd name="connsiteX16" fmla="*/ 239165 w 735001"/>
              <a:gd name="connsiteY16" fmla="*/ 51648 h 444454"/>
              <a:gd name="connsiteX17" fmla="*/ 284241 w 735001"/>
              <a:gd name="connsiteY17" fmla="*/ 64527 h 44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5001" h="444454">
                <a:moveTo>
                  <a:pt x="142573" y="128921"/>
                </a:moveTo>
                <a:cubicBezTo>
                  <a:pt x="157598" y="113896"/>
                  <a:pt x="168283" y="92591"/>
                  <a:pt x="187649" y="83845"/>
                </a:cubicBezTo>
                <a:cubicBezTo>
                  <a:pt x="311623" y="27857"/>
                  <a:pt x="306695" y="34825"/>
                  <a:pt x="400151" y="45208"/>
                </a:cubicBezTo>
                <a:cubicBezTo>
                  <a:pt x="415176" y="53794"/>
                  <a:pt x="429569" y="63597"/>
                  <a:pt x="445227" y="70966"/>
                </a:cubicBezTo>
                <a:cubicBezTo>
                  <a:pt x="466145" y="80810"/>
                  <a:pt x="491775" y="82028"/>
                  <a:pt x="509621" y="96724"/>
                </a:cubicBezTo>
                <a:cubicBezTo>
                  <a:pt x="531588" y="114815"/>
                  <a:pt x="572153" y="192539"/>
                  <a:pt x="586894" y="219073"/>
                </a:cubicBezTo>
                <a:cubicBezTo>
                  <a:pt x="621174" y="212217"/>
                  <a:pt x="674689" y="192492"/>
                  <a:pt x="709244" y="219073"/>
                </a:cubicBezTo>
                <a:cubicBezTo>
                  <a:pt x="724461" y="230779"/>
                  <a:pt x="726415" y="253417"/>
                  <a:pt x="735001" y="270589"/>
                </a:cubicBezTo>
                <a:cubicBezTo>
                  <a:pt x="726415" y="294200"/>
                  <a:pt x="728743" y="325580"/>
                  <a:pt x="709244" y="341423"/>
                </a:cubicBezTo>
                <a:cubicBezTo>
                  <a:pt x="579646" y="446721"/>
                  <a:pt x="562808" y="435595"/>
                  <a:pt x="438787" y="444454"/>
                </a:cubicBezTo>
                <a:cubicBezTo>
                  <a:pt x="255141" y="356804"/>
                  <a:pt x="154142" y="338320"/>
                  <a:pt x="26663" y="199755"/>
                </a:cubicBezTo>
                <a:cubicBezTo>
                  <a:pt x="14246" y="186258"/>
                  <a:pt x="13784" y="165411"/>
                  <a:pt x="7345" y="148239"/>
                </a:cubicBezTo>
                <a:cubicBezTo>
                  <a:pt x="5198" y="109603"/>
                  <a:pt x="905" y="71026"/>
                  <a:pt x="905" y="32330"/>
                </a:cubicBezTo>
                <a:cubicBezTo>
                  <a:pt x="905" y="21385"/>
                  <a:pt x="-3562" y="1041"/>
                  <a:pt x="7345" y="132"/>
                </a:cubicBezTo>
                <a:cubicBezTo>
                  <a:pt x="32382" y="-1955"/>
                  <a:pt x="53507" y="21145"/>
                  <a:pt x="78179" y="25890"/>
                </a:cubicBezTo>
                <a:cubicBezTo>
                  <a:pt x="109867" y="31984"/>
                  <a:pt x="142573" y="30183"/>
                  <a:pt x="174770" y="32330"/>
                </a:cubicBezTo>
                <a:lnTo>
                  <a:pt x="239165" y="51648"/>
                </a:lnTo>
                <a:cubicBezTo>
                  <a:pt x="282550" y="65206"/>
                  <a:pt x="263797" y="64527"/>
                  <a:pt x="284241" y="64527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0694FC1-E78A-B398-CE74-A1C910A6A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333" b="96296" l="9690" r="89535">
                        <a14:foregroundMark x1="17442" y1="93519" x2="17442" y2="93519"/>
                        <a14:foregroundMark x1="29457" y1="93519" x2="34496" y2="94907"/>
                        <a14:foregroundMark x1="72093" y1="93519" x2="72093" y2="93519"/>
                        <a14:foregroundMark x1="50000" y1="96296" x2="50000" y2="96296"/>
                        <a14:foregroundMark x1="12016" y1="38889" x2="12016" y2="38889"/>
                        <a14:foregroundMark x1="56202" y1="96296" x2="56202" y2="96296"/>
                        <a14:foregroundMark x1="84496" y1="23611" x2="84496" y2="236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437" y="2096327"/>
            <a:ext cx="1031610" cy="8636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416A24-B524-CA86-2CC8-8EBD03E7E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654" y="1818306"/>
            <a:ext cx="2618958" cy="28526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B03303B-0A11-346A-40E4-3FADD9B2A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302" y="85095"/>
            <a:ext cx="2851763" cy="3097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2653D60-FFBD-C9DA-765A-D07B82A89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973" y="858546"/>
            <a:ext cx="2644429" cy="22568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F5EDD6C-BBE4-2F12-3814-E0717E6D86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7398" y="3244641"/>
            <a:ext cx="3832789" cy="21966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6266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9EE0-8356-0C55-9922-30D3D997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E5C08AC-5557-C90A-77C3-6E6CB8936FD5}"/>
              </a:ext>
            </a:extLst>
          </p:cNvPr>
          <p:cNvSpPr txBox="1"/>
          <p:nvPr/>
        </p:nvSpPr>
        <p:spPr>
          <a:xfrm>
            <a:off x="1387825" y="442471"/>
            <a:ext cx="22317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+mj-ea"/>
                <a:ea typeface="+mj-ea"/>
              </a:rPr>
              <a:t>活动与招募</a:t>
            </a:r>
            <a:endParaRPr lang="zh-CN" altLang="en-US" sz="3200" b="1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A280527-B3FB-44E4-1E29-714B50395669}"/>
              </a:ext>
            </a:extLst>
          </p:cNvPr>
          <p:cNvGrpSpPr/>
          <p:nvPr/>
        </p:nvGrpSpPr>
        <p:grpSpPr>
          <a:xfrm>
            <a:off x="124227" y="446024"/>
            <a:ext cx="1308333" cy="576829"/>
            <a:chOff x="124227" y="446024"/>
            <a:chExt cx="1477187" cy="57682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1AB539E6-DCB2-C918-09B0-3C61ED8AAF30}"/>
                </a:ext>
              </a:extLst>
            </p:cNvPr>
            <p:cNvSpPr/>
            <p:nvPr/>
          </p:nvSpPr>
          <p:spPr>
            <a:xfrm>
              <a:off x="321482" y="547114"/>
              <a:ext cx="1279932" cy="34929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94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25ACD39D-2FEA-EEC8-69A7-64FC608B97E5}"/>
                </a:ext>
              </a:extLst>
            </p:cNvPr>
            <p:cNvSpPr/>
            <p:nvPr/>
          </p:nvSpPr>
          <p:spPr>
            <a:xfrm>
              <a:off x="124227" y="848203"/>
              <a:ext cx="1210588" cy="174650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E1A59C45-4530-BD4E-2814-E9DCA36C2A5E}"/>
                </a:ext>
              </a:extLst>
            </p:cNvPr>
            <p:cNvSpPr/>
            <p:nvPr/>
          </p:nvSpPr>
          <p:spPr>
            <a:xfrm>
              <a:off x="124227" y="446024"/>
              <a:ext cx="1210588" cy="45719"/>
            </a:xfrm>
            <a:prstGeom prst="parallelogram">
              <a:avLst>
                <a:gd name="adj" fmla="val 39543"/>
              </a:avLst>
            </a:prstGeom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2" name="梯形 51">
            <a:extLst>
              <a:ext uri="{FF2B5EF4-FFF2-40B4-BE49-F238E27FC236}">
                <a16:creationId xmlns:a16="http://schemas.microsoft.com/office/drawing/2014/main" id="{A791A7FB-1023-A76B-6073-9A07875F760A}"/>
              </a:ext>
            </a:extLst>
          </p:cNvPr>
          <p:cNvSpPr/>
          <p:nvPr/>
        </p:nvSpPr>
        <p:spPr>
          <a:xfrm>
            <a:off x="563266" y="5512307"/>
            <a:ext cx="11046854" cy="365395"/>
          </a:xfrm>
          <a:prstGeom prst="trapezoid">
            <a:avLst>
              <a:gd name="adj" fmla="val 425805"/>
            </a:avLst>
          </a:prstGeom>
          <a:gradFill>
            <a:gsLst>
              <a:gs pos="100000">
                <a:schemeClr val="accent1">
                  <a:alpha val="18000"/>
                </a:schemeClr>
              </a:gs>
              <a:gs pos="37000">
                <a:schemeClr val="accent6">
                  <a:alpha val="0"/>
                </a:schemeClr>
              </a:gs>
            </a:gsLst>
            <a:lin ang="5400000" scaled="0"/>
          </a:gradFill>
          <a:ln>
            <a:gradFill>
              <a:gsLst>
                <a:gs pos="61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63C41C-B20D-FE2E-4948-3D92A50F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spAutoFit/>
          </a:bodyPr>
          <a:lstStyle/>
          <a:p>
            <a:fld id="{A25FAE2F-E712-4C15-9E7E-4D828CB3199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8037B946-A3C8-A9AE-BB72-2F3ED8DE9CA9}"/>
              </a:ext>
            </a:extLst>
          </p:cNvPr>
          <p:cNvSpPr/>
          <p:nvPr/>
        </p:nvSpPr>
        <p:spPr>
          <a:xfrm>
            <a:off x="865746" y="5346618"/>
            <a:ext cx="10453289" cy="365395"/>
          </a:xfrm>
          <a:prstGeom prst="trapezoid">
            <a:avLst>
              <a:gd name="adj" fmla="val 425805"/>
            </a:avLst>
          </a:prstGeom>
          <a:gradFill>
            <a:gsLst>
              <a:gs pos="100000">
                <a:schemeClr val="accent1">
                  <a:alpha val="36000"/>
                </a:schemeClr>
              </a:gs>
              <a:gs pos="0">
                <a:schemeClr val="accent6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992012AC-43E8-815A-89F3-71E25CF5BD1F}"/>
              </a:ext>
            </a:extLst>
          </p:cNvPr>
          <p:cNvSpPr/>
          <p:nvPr/>
        </p:nvSpPr>
        <p:spPr>
          <a:xfrm>
            <a:off x="2049205" y="1451446"/>
            <a:ext cx="9211076" cy="4022922"/>
          </a:xfrm>
          <a:custGeom>
            <a:avLst/>
            <a:gdLst>
              <a:gd name="connsiteX0" fmla="*/ 8975021 w 8975021"/>
              <a:gd name="connsiteY0" fmla="*/ 0 h 4698013"/>
              <a:gd name="connsiteX1" fmla="*/ 8975021 w 8975021"/>
              <a:gd name="connsiteY1" fmla="*/ 4698013 h 4698013"/>
              <a:gd name="connsiteX2" fmla="*/ 8929786 w 8975021"/>
              <a:gd name="connsiteY2" fmla="*/ 4695954 h 4698013"/>
              <a:gd name="connsiteX3" fmla="*/ 423 w 8975021"/>
              <a:gd name="connsiteY3" fmla="*/ 4674268 h 4698013"/>
              <a:gd name="connsiteX4" fmla="*/ 17658 w 8975021"/>
              <a:gd name="connsiteY4" fmla="*/ 4320980 h 4698013"/>
              <a:gd name="connsiteX5" fmla="*/ 38522 w 8975021"/>
              <a:gd name="connsiteY5" fmla="*/ 4313723 h 4698013"/>
              <a:gd name="connsiteX6" fmla="*/ 8750724 w 8975021"/>
              <a:gd name="connsiteY6" fmla="*/ 51469 h 4698013"/>
              <a:gd name="connsiteX7" fmla="*/ 8945456 w 8975021"/>
              <a:gd name="connsiteY7" fmla="*/ 2139 h 469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5021" h="4698013">
                <a:moveTo>
                  <a:pt x="8975021" y="0"/>
                </a:moveTo>
                <a:lnTo>
                  <a:pt x="8975021" y="4698013"/>
                </a:lnTo>
                <a:lnTo>
                  <a:pt x="8929786" y="4695954"/>
                </a:lnTo>
                <a:cubicBezTo>
                  <a:pt x="8134942" y="4669582"/>
                  <a:pt x="1422795" y="4662284"/>
                  <a:pt x="423" y="4674268"/>
                </a:cubicBezTo>
                <a:cubicBezTo>
                  <a:pt x="-5474" y="4674351"/>
                  <a:pt x="52885" y="4322711"/>
                  <a:pt x="17658" y="4320980"/>
                </a:cubicBezTo>
                <a:lnTo>
                  <a:pt x="38522" y="4313723"/>
                </a:lnTo>
                <a:cubicBezTo>
                  <a:pt x="4542789" y="4543972"/>
                  <a:pt x="7980257" y="2539020"/>
                  <a:pt x="8750724" y="51469"/>
                </a:cubicBezTo>
                <a:cubicBezTo>
                  <a:pt x="8797668" y="45057"/>
                  <a:pt x="8858816" y="15729"/>
                  <a:pt x="8945456" y="2139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45000"/>
                </a:schemeClr>
              </a:gs>
              <a:gs pos="0">
                <a:schemeClr val="accent6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ABBFF1B-E921-19EB-890D-AD2D04BADEF7}"/>
              </a:ext>
            </a:extLst>
          </p:cNvPr>
          <p:cNvSpPr/>
          <p:nvPr/>
        </p:nvSpPr>
        <p:spPr>
          <a:xfrm>
            <a:off x="2049639" y="1506394"/>
            <a:ext cx="8993478" cy="3668573"/>
          </a:xfrm>
          <a:custGeom>
            <a:avLst/>
            <a:gdLst>
              <a:gd name="connsiteX0" fmla="*/ 0 w 7772400"/>
              <a:gd name="connsiteY0" fmla="*/ 3975100 h 3975100"/>
              <a:gd name="connsiteX1" fmla="*/ 2565400 w 7772400"/>
              <a:gd name="connsiteY1" fmla="*/ 3822700 h 3975100"/>
              <a:gd name="connsiteX2" fmla="*/ 5219700 w 7772400"/>
              <a:gd name="connsiteY2" fmla="*/ 2933700 h 3975100"/>
              <a:gd name="connsiteX3" fmla="*/ 7772400 w 7772400"/>
              <a:gd name="connsiteY3" fmla="*/ 0 h 3975100"/>
              <a:gd name="connsiteX0" fmla="*/ 0 w 7772400"/>
              <a:gd name="connsiteY0" fmla="*/ 3975100 h 3975100"/>
              <a:gd name="connsiteX1" fmla="*/ 443668 w 7772400"/>
              <a:gd name="connsiteY1" fmla="*/ 3962400 h 3975100"/>
              <a:gd name="connsiteX2" fmla="*/ 2565400 w 7772400"/>
              <a:gd name="connsiteY2" fmla="*/ 3822700 h 3975100"/>
              <a:gd name="connsiteX3" fmla="*/ 5219700 w 7772400"/>
              <a:gd name="connsiteY3" fmla="*/ 2933700 h 3975100"/>
              <a:gd name="connsiteX4" fmla="*/ 7772400 w 7772400"/>
              <a:gd name="connsiteY4" fmla="*/ 0 h 3975100"/>
              <a:gd name="connsiteX0" fmla="*/ 0 w 9777121"/>
              <a:gd name="connsiteY0" fmla="*/ 3987800 h 3987800"/>
              <a:gd name="connsiteX1" fmla="*/ 2448389 w 9777121"/>
              <a:gd name="connsiteY1" fmla="*/ 3962400 h 3987800"/>
              <a:gd name="connsiteX2" fmla="*/ 4570121 w 9777121"/>
              <a:gd name="connsiteY2" fmla="*/ 3822700 h 3987800"/>
              <a:gd name="connsiteX3" fmla="*/ 7224421 w 9777121"/>
              <a:gd name="connsiteY3" fmla="*/ 2933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2448389 w 9777121"/>
              <a:gd name="connsiteY1" fmla="*/ 3962400 h 3987800"/>
              <a:gd name="connsiteX2" fmla="*/ 4570121 w 9777121"/>
              <a:gd name="connsiteY2" fmla="*/ 3733800 h 3987800"/>
              <a:gd name="connsiteX3" fmla="*/ 7224421 w 9777121"/>
              <a:gd name="connsiteY3" fmla="*/ 2933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2448389 w 9777121"/>
              <a:gd name="connsiteY1" fmla="*/ 3962400 h 3987800"/>
              <a:gd name="connsiteX2" fmla="*/ 4570121 w 9777121"/>
              <a:gd name="connsiteY2" fmla="*/ 3733800 h 3987800"/>
              <a:gd name="connsiteX3" fmla="*/ 7158692 w 9777121"/>
              <a:gd name="connsiteY3" fmla="*/ 2806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1763518 w 9777121"/>
              <a:gd name="connsiteY1" fmla="*/ 3952875 h 3987800"/>
              <a:gd name="connsiteX2" fmla="*/ 4570121 w 9777121"/>
              <a:gd name="connsiteY2" fmla="*/ 3733800 h 3987800"/>
              <a:gd name="connsiteX3" fmla="*/ 7158692 w 9777121"/>
              <a:gd name="connsiteY3" fmla="*/ 2806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1763518 w 9777121"/>
              <a:gd name="connsiteY1" fmla="*/ 3952875 h 3987800"/>
              <a:gd name="connsiteX2" fmla="*/ 4947980 w 9777121"/>
              <a:gd name="connsiteY2" fmla="*/ 3390900 h 3987800"/>
              <a:gd name="connsiteX3" fmla="*/ 7158692 w 9777121"/>
              <a:gd name="connsiteY3" fmla="*/ 2806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1763518 w 9777121"/>
              <a:gd name="connsiteY1" fmla="*/ 3952875 h 3987800"/>
              <a:gd name="connsiteX2" fmla="*/ 4947980 w 9777121"/>
              <a:gd name="connsiteY2" fmla="*/ 3390900 h 3987800"/>
              <a:gd name="connsiteX3" fmla="*/ 8067917 w 9777121"/>
              <a:gd name="connsiteY3" fmla="*/ 2806700 h 3987800"/>
              <a:gd name="connsiteX4" fmla="*/ 9777121 w 9777121"/>
              <a:gd name="connsiteY4" fmla="*/ 0 h 3987800"/>
              <a:gd name="connsiteX0" fmla="*/ 0 w 9777121"/>
              <a:gd name="connsiteY0" fmla="*/ 3987800 h 3987800"/>
              <a:gd name="connsiteX1" fmla="*/ 1763518 w 9777121"/>
              <a:gd name="connsiteY1" fmla="*/ 3952875 h 3987800"/>
              <a:gd name="connsiteX2" fmla="*/ 4936172 w 9777121"/>
              <a:gd name="connsiteY2" fmla="*/ 3543300 h 3987800"/>
              <a:gd name="connsiteX3" fmla="*/ 8067917 w 9777121"/>
              <a:gd name="connsiteY3" fmla="*/ 2806700 h 3987800"/>
              <a:gd name="connsiteX4" fmla="*/ 9777121 w 9777121"/>
              <a:gd name="connsiteY4" fmla="*/ 0 h 3987800"/>
              <a:gd name="connsiteX0" fmla="*/ 0 w 11178351"/>
              <a:gd name="connsiteY0" fmla="*/ 3721100 h 3721100"/>
              <a:gd name="connsiteX1" fmla="*/ 1763518 w 11178351"/>
              <a:gd name="connsiteY1" fmla="*/ 3686175 h 3721100"/>
              <a:gd name="connsiteX2" fmla="*/ 4936172 w 11178351"/>
              <a:gd name="connsiteY2" fmla="*/ 3276600 h 3721100"/>
              <a:gd name="connsiteX3" fmla="*/ 8067917 w 11178351"/>
              <a:gd name="connsiteY3" fmla="*/ 2540000 h 3721100"/>
              <a:gd name="connsiteX4" fmla="*/ 11178351 w 11178351"/>
              <a:gd name="connsiteY4" fmla="*/ 0 h 3721100"/>
              <a:gd name="connsiteX0" fmla="*/ 0 w 11178351"/>
              <a:gd name="connsiteY0" fmla="*/ 3721100 h 3721100"/>
              <a:gd name="connsiteX1" fmla="*/ 1763518 w 11178351"/>
              <a:gd name="connsiteY1" fmla="*/ 3686175 h 3721100"/>
              <a:gd name="connsiteX2" fmla="*/ 4936172 w 11178351"/>
              <a:gd name="connsiteY2" fmla="*/ 3276600 h 3721100"/>
              <a:gd name="connsiteX3" fmla="*/ 11178351 w 11178351"/>
              <a:gd name="connsiteY3" fmla="*/ 0 h 3721100"/>
              <a:gd name="connsiteX0" fmla="*/ 0 w 11178351"/>
              <a:gd name="connsiteY0" fmla="*/ 3721100 h 3721100"/>
              <a:gd name="connsiteX1" fmla="*/ 1763518 w 11178351"/>
              <a:gd name="connsiteY1" fmla="*/ 3686175 h 3721100"/>
              <a:gd name="connsiteX2" fmla="*/ 11178351 w 11178351"/>
              <a:gd name="connsiteY2" fmla="*/ 0 h 3721100"/>
              <a:gd name="connsiteX0" fmla="*/ 0 w 11178351"/>
              <a:gd name="connsiteY0" fmla="*/ 3721100 h 3721100"/>
              <a:gd name="connsiteX1" fmla="*/ 1763518 w 11178351"/>
              <a:gd name="connsiteY1" fmla="*/ 3686175 h 3721100"/>
              <a:gd name="connsiteX2" fmla="*/ 1700369 w 11178351"/>
              <a:gd name="connsiteY2" fmla="*/ 3657600 h 3721100"/>
              <a:gd name="connsiteX3" fmla="*/ 11178351 w 11178351"/>
              <a:gd name="connsiteY3" fmla="*/ 0 h 3721100"/>
              <a:gd name="connsiteX0" fmla="*/ 0 w 11178351"/>
              <a:gd name="connsiteY0" fmla="*/ 3721100 h 3721100"/>
              <a:gd name="connsiteX1" fmla="*/ 1763518 w 11178351"/>
              <a:gd name="connsiteY1" fmla="*/ 3686175 h 3721100"/>
              <a:gd name="connsiteX2" fmla="*/ 11178351 w 11178351"/>
              <a:gd name="connsiteY2" fmla="*/ 0 h 3721100"/>
              <a:gd name="connsiteX0" fmla="*/ 0 w 11178351"/>
              <a:gd name="connsiteY0" fmla="*/ 3721100 h 3721100"/>
              <a:gd name="connsiteX1" fmla="*/ 11178351 w 11178351"/>
              <a:gd name="connsiteY1" fmla="*/ 0 h 3721100"/>
              <a:gd name="connsiteX0" fmla="*/ 0 w 11178351"/>
              <a:gd name="connsiteY0" fmla="*/ 3721100 h 3731183"/>
              <a:gd name="connsiteX1" fmla="*/ 11178351 w 11178351"/>
              <a:gd name="connsiteY1" fmla="*/ 0 h 3731183"/>
              <a:gd name="connsiteX0" fmla="*/ 0 w 11178351"/>
              <a:gd name="connsiteY0" fmla="*/ 3721100 h 3738720"/>
              <a:gd name="connsiteX1" fmla="*/ 11178351 w 11178351"/>
              <a:gd name="connsiteY1" fmla="*/ 0 h 3738720"/>
              <a:gd name="connsiteX0" fmla="*/ 0 w 11178351"/>
              <a:gd name="connsiteY0" fmla="*/ 3721100 h 3742497"/>
              <a:gd name="connsiteX1" fmla="*/ 11178351 w 11178351"/>
              <a:gd name="connsiteY1" fmla="*/ 0 h 3742497"/>
              <a:gd name="connsiteX0" fmla="*/ 0 w 10863468"/>
              <a:gd name="connsiteY0" fmla="*/ 4267200 h 4282542"/>
              <a:gd name="connsiteX1" fmla="*/ 10863468 w 10863468"/>
              <a:gd name="connsiteY1" fmla="*/ 0 h 4282542"/>
              <a:gd name="connsiteX0" fmla="*/ 0 w 10863468"/>
              <a:gd name="connsiteY0" fmla="*/ 4267200 h 4284200"/>
              <a:gd name="connsiteX1" fmla="*/ 10863468 w 10863468"/>
              <a:gd name="connsiteY1" fmla="*/ 0 h 42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63468" h="4284200">
                <a:moveTo>
                  <a:pt x="0" y="4267200"/>
                </a:moveTo>
                <a:cubicBezTo>
                  <a:pt x="4655023" y="4461933"/>
                  <a:pt x="9561953" y="2980267"/>
                  <a:pt x="10863468" y="0"/>
                </a:cubicBezTo>
              </a:path>
            </a:pathLst>
          </a:custGeom>
          <a:noFill/>
          <a:ln w="38100" cap="rnd">
            <a:gradFill>
              <a:gsLst>
                <a:gs pos="100000">
                  <a:schemeClr val="accent1"/>
                </a:gs>
                <a:gs pos="2655">
                  <a:schemeClr val="accent1">
                    <a:lumMod val="20000"/>
                    <a:lumOff val="80000"/>
                    <a:alpha val="0"/>
                  </a:schemeClr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8D040C-F27A-23AE-97C6-450AFEAEAE5D}"/>
              </a:ext>
            </a:extLst>
          </p:cNvPr>
          <p:cNvSpPr txBox="1"/>
          <p:nvPr/>
        </p:nvSpPr>
        <p:spPr>
          <a:xfrm>
            <a:off x="775054" y="1431600"/>
            <a:ext cx="4123571" cy="298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chemeClr val="accent1"/>
                </a:solidFill>
                <a:effectLst/>
              </a:rPr>
              <a:t>初次遇见</a:t>
            </a:r>
            <a:endParaRPr lang="en-US" altLang="zh-CN" sz="2000" b="1" dirty="0">
              <a:solidFill>
                <a:schemeClr val="accent1"/>
              </a:solidFill>
              <a:effectLst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俱乐部成员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名额</a:t>
            </a:r>
            <a:r>
              <a:rPr lang="en-US" altLang="zh-CN" dirty="0">
                <a:solidFill>
                  <a:schemeClr val="accent1"/>
                </a:solidFill>
              </a:rPr>
              <a:t>: 20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时间</a:t>
            </a:r>
            <a:r>
              <a:rPr lang="en-US" altLang="zh-CN" dirty="0">
                <a:solidFill>
                  <a:schemeClr val="accent1"/>
                </a:solidFill>
              </a:rPr>
              <a:t>: 2024.12 – 2025.1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打印材料份额 </a:t>
            </a:r>
            <a:r>
              <a:rPr lang="en-US" altLang="zh-CN" dirty="0">
                <a:solidFill>
                  <a:schemeClr val="accent1"/>
                </a:solidFill>
              </a:rPr>
              <a:t>100g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800" b="1" dirty="0">
                <a:solidFill>
                  <a:schemeClr val="accent1"/>
                </a:solidFill>
              </a:rPr>
              <a:t>{</a:t>
            </a:r>
            <a:r>
              <a:rPr lang="zh-CN" altLang="en-US" sz="1800" b="1" dirty="0">
                <a:solidFill>
                  <a:schemeClr val="accent1"/>
                </a:solidFill>
              </a:rPr>
              <a:t>二维码</a:t>
            </a:r>
            <a:r>
              <a:rPr lang="en-US" altLang="zh-CN" sz="1800" b="1" dirty="0">
                <a:solidFill>
                  <a:schemeClr val="accent1"/>
                </a:solidFill>
              </a:rPr>
              <a:t>}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solidFill>
                <a:schemeClr val="accent1"/>
              </a:solidFill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0FFC5BF-910D-12D3-E369-3A7D83971E94}"/>
              </a:ext>
            </a:extLst>
          </p:cNvPr>
          <p:cNvGrpSpPr/>
          <p:nvPr/>
        </p:nvGrpSpPr>
        <p:grpSpPr>
          <a:xfrm>
            <a:off x="4957434" y="4581427"/>
            <a:ext cx="746380" cy="727252"/>
            <a:chOff x="7470046" y="3830887"/>
            <a:chExt cx="727252" cy="72725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A5B2948-9B1E-A13B-2B05-CE2FE94112D0}"/>
                </a:ext>
              </a:extLst>
            </p:cNvPr>
            <p:cNvSpPr/>
            <p:nvPr/>
          </p:nvSpPr>
          <p:spPr>
            <a:xfrm>
              <a:off x="7694340" y="4055181"/>
              <a:ext cx="278664" cy="278664"/>
            </a:xfrm>
            <a:prstGeom prst="ellipse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0179206-1392-A92D-E3FC-378FB549EE02}"/>
                </a:ext>
              </a:extLst>
            </p:cNvPr>
            <p:cNvSpPr/>
            <p:nvPr/>
          </p:nvSpPr>
          <p:spPr>
            <a:xfrm>
              <a:off x="7470046" y="3830887"/>
              <a:ext cx="727252" cy="727252"/>
            </a:xfrm>
            <a:prstGeom prst="ellipse">
              <a:avLst/>
            </a:prstGeom>
            <a:gradFill flip="none" rotWithShape="1">
              <a:gsLst>
                <a:gs pos="36000">
                  <a:schemeClr val="accent1">
                    <a:alpha val="0"/>
                  </a:schemeClr>
                </a:gs>
                <a:gs pos="100000">
                  <a:schemeClr val="accent1">
                    <a:alpha val="74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857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AC40975F-DBFC-2334-6650-0A9B6793ABA8}"/>
              </a:ext>
            </a:extLst>
          </p:cNvPr>
          <p:cNvSpPr txBox="1"/>
          <p:nvPr/>
        </p:nvSpPr>
        <p:spPr>
          <a:xfrm>
            <a:off x="4733658" y="5274313"/>
            <a:ext cx="119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effectLst/>
              </a:rPr>
              <a:t>现阶段</a:t>
            </a:r>
            <a:endParaRPr lang="en-US" altLang="zh-CN" sz="2000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E2A8697-08CE-351A-A7CE-989A78BD7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739" y="4425289"/>
            <a:ext cx="2693377" cy="19924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082DE1E4-2C2A-E310-61E2-1F281AD38DD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4219" y1="35885" x2="54219" y2="35885"/>
                        <a14:foregroundMark x1="43125" y1="23229" x2="44688" y2="23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1150" y="1884714"/>
            <a:ext cx="632800" cy="6328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B3D9873-C023-83F9-858E-0A041C0AD9FE}"/>
              </a:ext>
            </a:extLst>
          </p:cNvPr>
          <p:cNvSpPr txBox="1"/>
          <p:nvPr/>
        </p:nvSpPr>
        <p:spPr>
          <a:xfrm>
            <a:off x="7722944" y="146845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打印铺掌柜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2D958E4-6F61-E24E-3A9B-236418F02E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4219" y1="35885" x2="54219" y2="35885"/>
                        <a14:foregroundMark x1="43125" y1="23229" x2="44688" y2="23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4606" y="2538674"/>
            <a:ext cx="632800" cy="6328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D008F4D-264B-75D1-7FBC-24DAA4A077EB}"/>
              </a:ext>
            </a:extLst>
          </p:cNvPr>
          <p:cNvSpPr txBox="1"/>
          <p:nvPr/>
        </p:nvSpPr>
        <p:spPr>
          <a:xfrm>
            <a:off x="7722944" y="2050928"/>
            <a:ext cx="1910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Kong,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Xiaohui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Sherry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7345199-F45D-AD60-7BE8-325FF394EB52}"/>
              </a:ext>
            </a:extLst>
          </p:cNvPr>
          <p:cNvSpPr txBox="1"/>
          <p:nvPr/>
        </p:nvSpPr>
        <p:spPr>
          <a:xfrm>
            <a:off x="7722944" y="2711875"/>
            <a:ext cx="1168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2"/>
                </a:solidFill>
              </a:rPr>
              <a:t>Placeholder</a:t>
            </a:r>
            <a:endParaRPr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D6FD9D-A6E7-9480-879C-23BF9CEA6A6C}"/>
              </a:ext>
            </a:extLst>
          </p:cNvPr>
          <p:cNvSpPr txBox="1"/>
          <p:nvPr/>
        </p:nvSpPr>
        <p:spPr>
          <a:xfrm>
            <a:off x="4030604" y="1443261"/>
            <a:ext cx="2380789" cy="154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chemeClr val="accent1"/>
                </a:solidFill>
              </a:rPr>
              <a:t>2. </a:t>
            </a:r>
            <a:r>
              <a:rPr lang="zh-CN" altLang="en-US" sz="2000" b="1" dirty="0">
                <a:solidFill>
                  <a:schemeClr val="accent1"/>
                </a:solidFill>
              </a:rPr>
              <a:t>创意工坊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俱乐部成员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</a:rPr>
              <a:t>名额：</a:t>
            </a:r>
            <a:r>
              <a:rPr lang="zh-CN" altLang="en-US" dirty="0">
                <a:solidFill>
                  <a:schemeClr val="accent1"/>
                </a:solidFill>
                <a:effectLst/>
                <a:highlight>
                  <a:srgbClr val="FFFF00"/>
                </a:highlight>
              </a:rPr>
              <a:t>待定</a:t>
            </a:r>
            <a:endParaRPr lang="en-US" altLang="zh-CN" dirty="0">
              <a:solidFill>
                <a:schemeClr val="accent1"/>
              </a:solidFill>
              <a:effectLst/>
              <a:highlight>
                <a:srgbClr val="FFFF00"/>
              </a:highlight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时间：</a:t>
            </a:r>
            <a:r>
              <a:rPr lang="en-US" altLang="zh-CN" dirty="0">
                <a:solidFill>
                  <a:schemeClr val="accent1"/>
                </a:solidFill>
              </a:rPr>
              <a:t>2025 Q1</a:t>
            </a:r>
            <a:endParaRPr lang="en-US" altLang="zh-CN" dirty="0">
              <a:solidFill>
                <a:schemeClr val="accent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815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635</Words>
  <Application>Microsoft Office PowerPoint</Application>
  <PresentationFormat>宽屏</PresentationFormat>
  <Paragraphs>108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-apple-system</vt:lpstr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Tony</dc:creator>
  <cp:lastModifiedBy>wei Tony</cp:lastModifiedBy>
  <cp:revision>36</cp:revision>
  <dcterms:created xsi:type="dcterms:W3CDTF">2024-12-08T06:15:07Z</dcterms:created>
  <dcterms:modified xsi:type="dcterms:W3CDTF">2024-12-09T07:01:46Z</dcterms:modified>
</cp:coreProperties>
</file>